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Open Sans" panose="020B0606030504020204" pitchFamily="34" charset="0"/>
      <p:regular r:id="rId13"/>
    </p:embeddedFont>
    <p:embeddedFont>
      <p:font typeface="Open Sans Bold" panose="020B0806030504020204" charset="0"/>
      <p:regular r:id="rId14"/>
    </p:embeddedFont>
    <p:embeddedFont>
      <p:font typeface="Playfair Display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1" d="100"/>
          <a:sy n="61" d="100"/>
        </p:scale>
        <p:origin x="8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87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31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3262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Confidential or Isolated Compute Design Study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88035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and Cost-Aware Azure Compute for Sensitive Workloads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Project No.: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24CC3046-P074   </a:t>
            </a: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No.: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T176   </a:t>
            </a: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Section: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52-MA   </a:t>
            </a: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Mentor: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Raju Anitha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Members: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Deepamrutha Thota • Vallela Sasidhar Reddy • Devaragatla Siddartha • Jetty Kundhan Yaswanth Sai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51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48780"/>
            <a:ext cx="5247052" cy="1448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Organizations process highly sensitive data (financial, healthcare, government, customer records). Choosing the right Azure compute environment affects confidentiality, compliance and operational cost.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Problem: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How can an organization select an Azure compute environment that provides appropriate protection and isolation while balancing security, compliance, performance, availability and cost?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518" y="1376859"/>
            <a:ext cx="383868" cy="383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9353" y="1376859"/>
            <a:ext cx="47072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29353" y="1741488"/>
            <a:ext cx="470721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Protection of data at rest and in memory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9518" y="2213670"/>
            <a:ext cx="383868" cy="383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9353" y="2213670"/>
            <a:ext cx="47072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829353" y="2578298"/>
            <a:ext cx="470721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Workload separation and tenant isolation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9518" y="3050480"/>
            <a:ext cx="383868" cy="3838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29353" y="3050480"/>
            <a:ext cx="47072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829353" y="3415109"/>
            <a:ext cx="470721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Regulatory and audit requirements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9518" y="3887291"/>
            <a:ext cx="383868" cy="3838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29353" y="3887291"/>
            <a:ext cx="47072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829353" y="4251920"/>
            <a:ext cx="470721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Latency and throughput needs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9518" y="4724102"/>
            <a:ext cx="383868" cy="3838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29353" y="4724102"/>
            <a:ext cx="47072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829353" y="5088731"/>
            <a:ext cx="470721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Uptime and fault domains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9518" y="5560913"/>
            <a:ext cx="383868" cy="38387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29353" y="5560913"/>
            <a:ext cx="47072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829353" y="5925542"/>
            <a:ext cx="470721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CapEx/Opex implications and SKU premiums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BE83FBE-013A-3E67-27EE-12EB076F4E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9907" y="3340095"/>
            <a:ext cx="692186" cy="1778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3B79BC0-AB54-87BF-3548-CB62E4C998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04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Objectives and Use Cases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665611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3139480"/>
            <a:ext cx="5207465" cy="2028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Study Azure Confidential and Isolated compute options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alternatives for security, privacy and compliance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performance, availability and cost trade-offs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compliance justification for each option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regional availability and cost challenges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9105" y="1618357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Primary Use Cases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105" y="2115046"/>
            <a:ext cx="547575" cy="6844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05571" y="2115046"/>
            <a:ext cx="1712770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Banking &amp; Finance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05571" y="2879626"/>
            <a:ext cx="171277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processing, sensitive ledgers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234" y="2115046"/>
            <a:ext cx="547575" cy="6844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23700" y="2115046"/>
            <a:ext cx="17128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823700" y="2588915"/>
            <a:ext cx="171287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data processing and analytics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105" y="4131766"/>
            <a:ext cx="547575" cy="6844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05571" y="4131766"/>
            <a:ext cx="17127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Government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105571" y="4605635"/>
            <a:ext cx="171277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Citizen records and regulated services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234" y="4131766"/>
            <a:ext cx="547575" cy="6844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23700" y="4131766"/>
            <a:ext cx="1712870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Enterprise Confidential Apps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9823700" y="5187057"/>
            <a:ext cx="171287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Proprietary workloads and IP protection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EE4A6A-84CD-4EA9-CC2F-E3375E545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9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Compute Options Under Study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976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 of core compute choices considered in this project. Table lists purpose, isolation characteristics, and intended project usage.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15071"/>
          <a:ext cx="10868745" cy="4001193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4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Purpose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Isolation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Project Usage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30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Standard Azure VM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Baseline environment for general-purpose workloads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Shared host kernel, logical isolation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Practical implementation / baseline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30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Azure Confidential VM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Confidential computing with TEEs (trusted execution)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Hardware-based memory protection, stronger isolation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Evaluate for sensitive workloads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Azure Dedicated Host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Dedicated physical server for tenant isolation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Infrastructure-level isolation (single-tenant host)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Alternative architecture to compare isolation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826D0EC-8ECE-DA8C-375E-AB35E8165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2557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Proposed Azure Architecture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9969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Explanation: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814737"/>
            <a:ext cx="629686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VM used as the baseline deployment for the sample workload.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Confidential VM and Dedicated Host are evaluated as specialized options for stronger isolation.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workload is deployed across environments to compare security, isolation, performance, availability and cost.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Vault stores secrets; Azure Monitor collects metrics and logs for comparison.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Workflow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33" y="909538"/>
            <a:ext cx="6047331" cy="604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9492" y="1846267"/>
            <a:ext cx="1948539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Definition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9492" y="2544592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Clarify workload goals and evaluation factors.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4018" y="1907404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Requirements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4018" y="2300043"/>
            <a:ext cx="1948539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security, performance, cost, and availability needs.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9662" y="4933539"/>
            <a:ext cx="19485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Options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659662" y="5326178"/>
            <a:ext cx="1948538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compute choices and deployment models.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4018" y="4780696"/>
            <a:ext cx="1948539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Availability Check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94018" y="5479021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region and SKU availability constraints.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701000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the same sample workload using security, isolation, performance, availability and cost as evaluation factors.</a:t>
            </a:r>
            <a:endParaRPr lang="en-US" sz="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F425FA-E14B-C97B-BFAA-38EA40066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678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Resource, Identity and Resource Management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74181"/>
            <a:ext cx="3277709" cy="2374404"/>
          </a:xfrm>
          <a:prstGeom prst="roundRect">
            <a:avLst>
              <a:gd name="adj" fmla="val 1194"/>
            </a:avLst>
          </a:prstGeom>
          <a:solidFill>
            <a:srgbClr val="E0E0EC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163193"/>
            <a:ext cx="28996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Task 1 — Managed Disk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647480"/>
            <a:ext cx="289969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Azure Cloud Shell PowerShell to create Resource Group and Managed Disk; configure disk via Azure PowerShell.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06691" y="2974181"/>
            <a:ext cx="3277709" cy="2367260"/>
          </a:xfrm>
          <a:prstGeom prst="roundRect">
            <a:avLst>
              <a:gd name="adj" fmla="val 1198"/>
            </a:avLst>
          </a:prstGeom>
          <a:solidFill>
            <a:srgbClr val="E0E0EC"/>
          </a:solidFill>
          <a:ln/>
        </p:spPr>
      </p:sp>
      <p:sp>
        <p:nvSpPr>
          <p:cNvPr id="7" name="Text 5"/>
          <p:cNvSpPr/>
          <p:nvPr/>
        </p:nvSpPr>
        <p:spPr>
          <a:xfrm>
            <a:off x="4595698" y="3163193"/>
            <a:ext cx="28996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Task 2 — Azure AD / Identity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95698" y="3942755"/>
            <a:ext cx="289969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Create/configure Azure AD users, assigned &amp; dynamic groups, tenant setup and guest user management.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151906" y="2974181"/>
            <a:ext cx="3390914" cy="2064841"/>
          </a:xfrm>
          <a:prstGeom prst="roundRect">
            <a:avLst>
              <a:gd name="adj" fmla="val 1373"/>
            </a:avLst>
          </a:prstGeom>
          <a:solidFill>
            <a:srgbClr val="E0E0EC"/>
          </a:solidFill>
          <a:ln/>
        </p:spPr>
      </p:sp>
      <p:sp>
        <p:nvSpPr>
          <p:cNvPr id="10" name="Text 8"/>
          <p:cNvSpPr/>
          <p:nvPr/>
        </p:nvSpPr>
        <p:spPr>
          <a:xfrm>
            <a:off x="8340913" y="3163193"/>
            <a:ext cx="3012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Task 3 — Resource Management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40913" y="3942755"/>
            <a:ext cx="30129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resources, move between Resource Groups and implement Resource Locks for protection.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38BF8C-A12B-98C8-A90C-8096FF6F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38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Networking, Virtual Machines and Storage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569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Task 4 — Azure Networking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4124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activities: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413720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&amp; configure Virtual Network and subnets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VMs into VNet, assign private/public IPs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 Network Security Groups (NSGs)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Azure DNS for internal/external resolution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99169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Visual: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VNet → Subnet → VM → NSG → IP → DNS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4569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Task 5 — Azure Storage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94124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activities: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41372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VM and create Storage Account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Blob Storage and Azure File Share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 authentication &amp; access control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62319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Visual: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Storage Account → Blob Storage + File Share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45E698-BC36-DBE2-2635-82E9BA420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34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Services and Key Considerations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6587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Services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0873"/>
            <a:ext cx="327770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Virtual Network, NSG, Azure DNS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VM, Confidential VM, Dedicated Host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Vault, Azure Monitor, Managed Disks, Storage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406691" y="2376587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&amp; Compliance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406691" y="2860873"/>
            <a:ext cx="3277709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 data at rest, in transit and in memory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Stronger workload separation when required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Key Vault for secrets; document justification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NSGs and secure networking for segmentation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51906" y="2376587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 &amp; Challenges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151906" y="2860873"/>
            <a:ext cx="339091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compute SKUs can incur higher costs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regional availability for confidential SKUs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low-cost services where appropriate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deployments may require paid credits or procurement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C7B191-A06D-070F-CC50-D66395237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01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34356"/>
            <a:ext cx="6336745" cy="359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study evaluates Azure compute options for sensitive workloads while distinguishing practical implementation from conceptual evaluation.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VM serves as a practical baseline; Confidential VM and Dedicated Host are specialized alternatives for stronger isolation.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covers security, isolation, compliance, performance, availability and cost—without inventing deployment results.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SKU availability and specialized-compute cost are key practical challenges to document.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 supports further studies for banking, healthcare, government and enterprise workloads.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5595342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THANK YOU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27" y="2712641"/>
            <a:ext cx="4070744" cy="230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B62B43-3AD4-F64F-3204-25FF4F233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034" y="6521818"/>
            <a:ext cx="1308710" cy="3361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791</Words>
  <Application>Microsoft Office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Playfair Display Bold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Deepamrutha Thota</dc:creator>
  <cp:lastModifiedBy>DEEPAMRUTHA THOTA</cp:lastModifiedBy>
  <cp:revision>2</cp:revision>
  <dcterms:created xsi:type="dcterms:W3CDTF">2026-09-23T01:58:37Z</dcterms:created>
  <dcterms:modified xsi:type="dcterms:W3CDTF">2026-09-23T02:20:18Z</dcterms:modified>
</cp:coreProperties>
</file>